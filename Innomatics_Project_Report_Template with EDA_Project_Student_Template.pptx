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23"/>
  </p:notesMasterIdLst>
  <p:sldIdLst>
    <p:sldId id="256" r:id="rId2"/>
    <p:sldId id="261" r:id="rId3"/>
    <p:sldId id="262" r:id="rId4"/>
    <p:sldId id="271" r:id="rId5"/>
    <p:sldId id="272" r:id="rId6"/>
    <p:sldId id="264" r:id="rId7"/>
    <p:sldId id="265" r:id="rId8"/>
    <p:sldId id="266" r:id="rId9"/>
    <p:sldId id="273" r:id="rId10"/>
    <p:sldId id="277" r:id="rId11"/>
    <p:sldId id="276" r:id="rId12"/>
    <p:sldId id="274" r:id="rId13"/>
    <p:sldId id="278" r:id="rId14"/>
    <p:sldId id="279" r:id="rId15"/>
    <p:sldId id="275" r:id="rId16"/>
    <p:sldId id="280" r:id="rId17"/>
    <p:sldId id="281" r:id="rId18"/>
    <p:sldId id="268" r:id="rId19"/>
    <p:sldId id="269" r:id="rId20"/>
    <p:sldId id="270" r:id="rId21"/>
    <p:sldId id="263" r:id="rId22"/>
  </p:sldIdLst>
  <p:sldSz cx="12192000" cy="6858000"/>
  <p:notesSz cx="6858000" cy="9144000"/>
  <p:embeddedFontLst>
    <p:embeddedFont>
      <p:font typeface="Calisto MT" panose="02040603050505030304" pitchFamily="18" charset="0"/>
      <p:regular r:id="rId24"/>
      <p:bold r:id="rId25"/>
      <p:italic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</p:embeddedFont>
    <p:embeddedFont>
      <p:font typeface="Trebuchet MS" panose="020B0603020202020204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04" autoAdjust="0"/>
  </p:normalViewPr>
  <p:slideViewPr>
    <p:cSldViewPr snapToGrid="0">
      <p:cViewPr varScale="1">
        <p:scale>
          <a:sx n="101" d="100"/>
          <a:sy n="101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9B054847-B982-5CFE-B3EB-8E7C500F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C6943754-E0E1-6CAB-2895-2D87945DD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CC44D5E2-6F4E-6147-E4D2-9751F51F1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6405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78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24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27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42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937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60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68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9912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9588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1086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27705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572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08723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209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89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373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475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5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681410"/>
            <a:ext cx="7246189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E01F26"/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CAR TRADE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E01F26"/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SECOND HANDS CARS ANALYSIS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E01F26"/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 </a:t>
            </a:r>
            <a:r>
              <a:rPr lang="en-IN" sz="1800" b="1" dirty="0">
                <a:solidFill>
                  <a:srgbClr val="E01F26"/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BY</a:t>
            </a:r>
            <a:r>
              <a:rPr lang="en-IN" sz="2400" b="1" dirty="0">
                <a:solidFill>
                  <a:srgbClr val="E01F26"/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E01F26"/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ARVIND KOMPELLI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E01F26"/>
              </a:solidFill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738188"/>
            <a:ext cx="10515600" cy="92868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+mj-lt"/>
              </a:rPr>
              <a:t>BUSINESS PROBLEM AND USE CASE</a:t>
            </a:r>
            <a:endParaRPr sz="28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2403475"/>
            <a:ext cx="10248900" cy="4051300"/>
          </a:xfrm>
        </p:spPr>
        <p:txBody>
          <a:bodyPr>
            <a:noAutofit/>
          </a:bodyPr>
          <a:lstStyle/>
          <a:p>
            <a:r>
              <a:rPr lang="en-IN" sz="1800" dirty="0"/>
              <a:t>Price optimization for used cars.</a:t>
            </a:r>
          </a:p>
          <a:p>
            <a:endParaRPr lang="en-IN" sz="1800" dirty="0"/>
          </a:p>
          <a:p>
            <a:r>
              <a:rPr lang="en-IN" sz="1800" dirty="0"/>
              <a:t>Identifying key factors influencing car sales.</a:t>
            </a:r>
          </a:p>
          <a:p>
            <a:endParaRPr lang="en-IN" sz="1800" dirty="0"/>
          </a:p>
          <a:p>
            <a:r>
              <a:rPr lang="en-IN" sz="1800" dirty="0" err="1"/>
              <a:t>Forcasting</a:t>
            </a:r>
            <a:r>
              <a:rPr lang="en-IN" sz="1800" dirty="0"/>
              <a:t> demand for used cars.</a:t>
            </a:r>
          </a:p>
          <a:p>
            <a:endParaRPr lang="en-IN" sz="1800" dirty="0"/>
          </a:p>
          <a:p>
            <a:r>
              <a:rPr sz="1800" dirty="0"/>
              <a:t>Identify pricing trends and market insights from online car listings.</a:t>
            </a:r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Improving lead conversion rates.</a:t>
            </a:r>
          </a:p>
          <a:p>
            <a:endParaRPr lang="en-I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9787"/>
            <a:ext cx="10515600" cy="7112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+mj-lt"/>
              </a:rPr>
              <a:t>OBJECTIVE OF THE PROJECT</a:t>
            </a:r>
            <a:endParaRPr sz="28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2284412"/>
            <a:ext cx="10515600" cy="4935538"/>
          </a:xfrm>
        </p:spPr>
        <p:txBody>
          <a:bodyPr>
            <a:normAutofit/>
          </a:bodyPr>
          <a:lstStyle/>
          <a:p>
            <a:r>
              <a:rPr sz="1800" dirty="0"/>
              <a:t>To </a:t>
            </a:r>
            <a:r>
              <a:rPr lang="en-IN" sz="1800" dirty="0"/>
              <a:t>perform exploratory  data analysis to identify the most significant car attributes affecting sales and resale value, providing </a:t>
            </a:r>
            <a:r>
              <a:rPr lang="en-IN" sz="1800" dirty="0" err="1"/>
              <a:t>insisghts</a:t>
            </a:r>
            <a:r>
              <a:rPr lang="en-IN" sz="1800" dirty="0"/>
              <a:t> to optimize listing strategies and pricing decisions.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To develop a data driven pricing model that predicts fair market value for used cars and building trust and improving sales with conversion rates.</a:t>
            </a:r>
          </a:p>
          <a:p>
            <a:endParaRPr lang="en-IN" sz="1800" dirty="0"/>
          </a:p>
          <a:p>
            <a:r>
              <a:rPr lang="en-IN" sz="1800" dirty="0"/>
              <a:t>To predict demand trends using historical data, seasonal factors, and regional preference, enabling better inventory and pricing strategies.</a:t>
            </a:r>
          </a:p>
          <a:p>
            <a:endParaRPr lang="en-IN" sz="1800" dirty="0"/>
          </a:p>
          <a:p>
            <a:r>
              <a:rPr lang="en-IN" sz="1800" dirty="0"/>
              <a:t>To use historical and seasonal data to forecast regional area demand for used cars, helping dealers and the platform optimize inventory and pricing strategies.</a:t>
            </a:r>
          </a:p>
          <a:p>
            <a:endParaRPr lang="en-IN" sz="1800" dirty="0"/>
          </a:p>
          <a:p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D70B-1773-4C8C-A586-11E3DC53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826EB44-396B-E4D9-E909-BC7C5A25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081" y="325374"/>
            <a:ext cx="5145494" cy="578015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AE290E-337C-F24B-9B71-A0F20B45FE22}"/>
              </a:ext>
            </a:extLst>
          </p:cNvPr>
          <p:cNvSpPr txBox="1">
            <a:spLocks/>
          </p:cNvSpPr>
          <p:nvPr/>
        </p:nvSpPr>
        <p:spPr>
          <a:xfrm>
            <a:off x="276224" y="2238375"/>
            <a:ext cx="5819775" cy="349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Data Source: Car trade website.</a:t>
            </a:r>
          </a:p>
          <a:p>
            <a:endParaRPr lang="en-US" dirty="0"/>
          </a:p>
          <a:p>
            <a:r>
              <a:rPr lang="en-US" dirty="0"/>
              <a:t>Python libraries :  Beautiful Soup, Requests, Pandas ,</a:t>
            </a:r>
            <a:r>
              <a:rPr lang="en-US" dirty="0" err="1"/>
              <a:t>numpy</a:t>
            </a:r>
            <a:r>
              <a:rPr lang="en-US" dirty="0"/>
              <a:t> ,</a:t>
            </a:r>
            <a:r>
              <a:rPr lang="en-US" dirty="0" err="1"/>
              <a:t>matplot</a:t>
            </a:r>
            <a:r>
              <a:rPr lang="en-US" dirty="0"/>
              <a:t>, seaborn.</a:t>
            </a:r>
          </a:p>
          <a:p>
            <a:endParaRPr lang="en-US" dirty="0"/>
          </a:p>
          <a:p>
            <a:r>
              <a:rPr lang="en-US" dirty="0"/>
              <a:t>Process : Extracted car details (brand, year, model, price, kms driven, fuel type, and location).</a:t>
            </a:r>
          </a:p>
          <a:p>
            <a:endParaRPr lang="en-US" dirty="0"/>
          </a:p>
          <a:p>
            <a:r>
              <a:rPr lang="en-US" dirty="0"/>
              <a:t>Cleaned and making into structured the scraped data into a Pandas </a:t>
            </a:r>
            <a:r>
              <a:rPr lang="en-US" dirty="0" err="1"/>
              <a:t>DataFrame</a:t>
            </a:r>
            <a:r>
              <a:rPr lang="en-US" dirty="0"/>
              <a:t> for analysis.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C8A8058-6118-B6FA-79F6-25B26673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120" y="906399"/>
            <a:ext cx="5257800" cy="6667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+mj-lt"/>
              </a:rPr>
              <a:t>WEB SCRAPPING DETAILS</a:t>
            </a:r>
            <a:endParaRPr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845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88830-9433-14E2-7F64-BD9A0450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1684-1DAA-A474-8073-E0751D21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9" y="866008"/>
            <a:ext cx="5343525" cy="538163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FRAME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5027F4-B6EB-4941-62A9-461606FA4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2158379"/>
            <a:ext cx="9906001" cy="44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68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62" y="879476"/>
            <a:ext cx="10515600" cy="5397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SUMMARY OF DATA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637" y="2282825"/>
            <a:ext cx="10448925" cy="4432300"/>
          </a:xfrm>
        </p:spPr>
        <p:txBody>
          <a:bodyPr>
            <a:noAutofit/>
          </a:bodyPr>
          <a:lstStyle/>
          <a:p>
            <a:r>
              <a:rPr sz="1800" dirty="0"/>
              <a:t>Total Records: 488 cars</a:t>
            </a:r>
          </a:p>
          <a:p>
            <a:endParaRPr lang="en-US" sz="1800" dirty="0"/>
          </a:p>
          <a:p>
            <a:r>
              <a:rPr sz="1800" dirty="0"/>
              <a:t>Columns: Year, Brand Name, Specification, Price, KMS Info, Type, Location</a:t>
            </a:r>
          </a:p>
          <a:p>
            <a:endParaRPr sz="1800" dirty="0"/>
          </a:p>
          <a:p>
            <a:r>
              <a:rPr sz="1800" dirty="0"/>
              <a:t>Sample Insights:</a:t>
            </a:r>
          </a:p>
          <a:p>
            <a:endParaRPr lang="en-US" sz="1800" dirty="0"/>
          </a:p>
          <a:p>
            <a:r>
              <a:rPr sz="1800" dirty="0"/>
              <a:t>Data contains both luxury and economy brands.</a:t>
            </a:r>
          </a:p>
          <a:p>
            <a:endParaRPr lang="en-US" sz="1800" dirty="0"/>
          </a:p>
          <a:p>
            <a:r>
              <a:rPr sz="1800" dirty="0"/>
              <a:t>Prices vary</a:t>
            </a:r>
            <a:r>
              <a:rPr lang="en-IN" sz="1800" dirty="0"/>
              <a:t>.</a:t>
            </a:r>
            <a:endParaRPr sz="1800" dirty="0"/>
          </a:p>
          <a:p>
            <a:endParaRPr lang="en-US" sz="1800" dirty="0"/>
          </a:p>
          <a:p>
            <a:r>
              <a:rPr sz="1800" dirty="0"/>
              <a:t>Locations include multiple areas in Hyderabad.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812801"/>
            <a:ext cx="10515600" cy="7874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2259014"/>
            <a:ext cx="11353800" cy="4491036"/>
          </a:xfrm>
        </p:spPr>
        <p:txBody>
          <a:bodyPr>
            <a:noAutofit/>
          </a:bodyPr>
          <a:lstStyle/>
          <a:p>
            <a:r>
              <a:rPr sz="1800" dirty="0"/>
              <a:t>Steps Followed</a:t>
            </a:r>
            <a:r>
              <a:rPr lang="en-IN" sz="1800" dirty="0"/>
              <a:t>:</a:t>
            </a:r>
            <a:endParaRPr lang="en-US" sz="1800" dirty="0"/>
          </a:p>
          <a:p>
            <a:pPr marL="114300" indent="0">
              <a:buNone/>
            </a:pPr>
            <a:r>
              <a:rPr lang="en-IN" sz="1800" dirty="0"/>
              <a:t>       </a:t>
            </a:r>
            <a:r>
              <a:rPr lang="en-US" sz="1800" dirty="0"/>
              <a:t> 1. Data Cleaning – Handled null values and corrected data types.</a:t>
            </a:r>
          </a:p>
          <a:p>
            <a:pPr marL="114300" indent="0">
              <a:buNone/>
            </a:pPr>
            <a:r>
              <a:rPr lang="en-IN" sz="1800" dirty="0"/>
              <a:t>        </a:t>
            </a:r>
            <a:r>
              <a:rPr sz="1800" dirty="0"/>
              <a:t>2. Data Manipulation – Standardized columns and formatted prices.</a:t>
            </a:r>
            <a:endParaRPr lang="en-IN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• Histogram shows most car prices.</a:t>
            </a:r>
          </a:p>
          <a:p>
            <a:pPr marL="114300" indent="0">
              <a:buNone/>
            </a:pPr>
            <a:br>
              <a:rPr lang="en-US" sz="1800" dirty="0"/>
            </a:br>
            <a:r>
              <a:rPr lang="en-US" sz="1800" dirty="0"/>
              <a:t>• Boxplot identifies multiple high-priced outliers (luxury cars).</a:t>
            </a:r>
            <a:br>
              <a:rPr lang="en-US" sz="1800" dirty="0"/>
            </a:br>
            <a:br>
              <a:rPr lang="en-US" sz="1800" dirty="0"/>
            </a:br>
            <a:endParaRPr lang="en-US" sz="1800" dirty="0"/>
          </a:p>
          <a:p>
            <a:pPr marL="114300" indent="0" fontAlgn="base">
              <a:buNone/>
            </a:pPr>
            <a:r>
              <a:rPr lang="en-US" sz="1800" dirty="0"/>
              <a:t>• Positive correlation between manufacturing year and price.​</a:t>
            </a:r>
            <a:br>
              <a:rPr lang="en-US" sz="1800" dirty="0"/>
            </a:br>
            <a:br>
              <a:rPr lang="en-US" sz="1800" dirty="0"/>
            </a:br>
            <a:endParaRPr lang="en-US" sz="1800" dirty="0"/>
          </a:p>
          <a:p>
            <a:pPr marL="114300" indent="0" fontAlgn="base">
              <a:buNone/>
            </a:pPr>
            <a:r>
              <a:rPr lang="en-US" sz="1800" dirty="0"/>
              <a:t>• Cars with lower kilometers driven  tend to have higher prices.​​</a:t>
            </a:r>
            <a:br>
              <a:rPr lang="en-US" sz="1800" dirty="0"/>
            </a:br>
            <a:endParaRPr sz="1800" dirty="0"/>
          </a:p>
          <a:p>
            <a:endParaRPr lang="en-IN" sz="1800" dirty="0"/>
          </a:p>
          <a:p>
            <a:pPr marL="11430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6" y="2200276"/>
            <a:ext cx="10367962" cy="4514849"/>
          </a:xfrm>
        </p:spPr>
        <p:txBody>
          <a:bodyPr>
            <a:normAutofit/>
          </a:bodyPr>
          <a:lstStyle/>
          <a:p>
            <a:r>
              <a:rPr lang="en-US" sz="1800" dirty="0"/>
              <a:t>• Cars with lower kilometers driven  tend to have higher prices.​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Fuel type (Petrol vs Diesel) shows price variation across brands.​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Visualization: Scatterplots, Boxplots, and </a:t>
            </a:r>
            <a:r>
              <a:rPr lang="en-US" sz="1800" dirty="0" err="1"/>
              <a:t>Catplots</a:t>
            </a:r>
            <a:r>
              <a:rPr lang="en-US" sz="1800" dirty="0"/>
              <a:t> for Brand vs Location.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Weak correlation observed between price and year.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Negative correlation between year and kilometers driven.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Visualization: Heatmap highlighting relationships among numerical variables.​</a:t>
            </a:r>
            <a:br>
              <a:rPr lang="en-US" sz="1800" dirty="0"/>
            </a:b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09E5-DBE6-98F3-E51F-07AFF20E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C258C1-1C0D-DD5B-5C02-F19515949B07}"/>
              </a:ext>
            </a:extLst>
          </p:cNvPr>
          <p:cNvSpPr txBox="1"/>
          <p:nvPr/>
        </p:nvSpPr>
        <p:spPr>
          <a:xfrm>
            <a:off x="217256" y="984142"/>
            <a:ext cx="10762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Univariate Analysis – Distribution and outlier detection for car prices.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29C8C3-5203-E4BB-0CEC-6A8B8C9DC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56" y="2647950"/>
            <a:ext cx="5421544" cy="35504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160A0C-E3B7-AFD4-381C-7B7C6644F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2647950"/>
            <a:ext cx="6061216" cy="355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83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EA084-30E0-08C9-AF5B-12E8F970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FF7A509-4525-576F-263A-3E07378B0535}"/>
              </a:ext>
            </a:extLst>
          </p:cNvPr>
          <p:cNvSpPr txBox="1"/>
          <p:nvPr/>
        </p:nvSpPr>
        <p:spPr>
          <a:xfrm>
            <a:off x="467490" y="1031767"/>
            <a:ext cx="10762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Univariate Analysis – Distribution and outlier detection for car prices.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73CCCD-5167-06D6-86B9-359BD2F35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4" y="2514600"/>
            <a:ext cx="5353050" cy="3924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A7E71-2DC0-C53A-465D-17991277E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6" y="2505075"/>
            <a:ext cx="546735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94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AEED-0400-F1CD-3EAF-53B83E80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C73216A-B5B5-95C4-4C5C-45B9AEAE1369}"/>
              </a:ext>
            </a:extLst>
          </p:cNvPr>
          <p:cNvSpPr txBox="1"/>
          <p:nvPr/>
        </p:nvSpPr>
        <p:spPr>
          <a:xfrm>
            <a:off x="714756" y="1012717"/>
            <a:ext cx="10762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Univariate Analysis – Distribution and outlier detection for car prices.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5E548-5B5B-37AC-9A5B-E4975830C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132" y="2214206"/>
            <a:ext cx="9333735" cy="452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87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47DD-8581-C60E-86B4-C2892C36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0C77B8-D93E-E5F4-55B6-53E70AF57095}"/>
              </a:ext>
            </a:extLst>
          </p:cNvPr>
          <p:cNvSpPr txBox="1"/>
          <p:nvPr/>
        </p:nvSpPr>
        <p:spPr>
          <a:xfrm>
            <a:off x="723900" y="1076326"/>
            <a:ext cx="996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Bivariate Analysis – Studied relationships between price, year, brand, and fuel type</a:t>
            </a:r>
            <a:endParaRPr lang="en-IN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42299-1F69-FB87-3EF0-5FC4D5C0C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2717006"/>
            <a:ext cx="6112309" cy="3214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68DBB9-7D5F-5E94-BA6C-D3C3201B7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509" y="2717006"/>
            <a:ext cx="4870966" cy="321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82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57A5-F354-2E47-F7D1-6683FE62D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4866C7-1292-1A97-B954-4B0434AD8811}"/>
              </a:ext>
            </a:extLst>
          </p:cNvPr>
          <p:cNvSpPr txBox="1"/>
          <p:nvPr/>
        </p:nvSpPr>
        <p:spPr>
          <a:xfrm>
            <a:off x="695323" y="1076326"/>
            <a:ext cx="996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Bivariate Analysis – Studied relationships between price, year, brand, and fuel type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912898-F160-0108-1C15-E41D6BEE6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3" y="2495549"/>
            <a:ext cx="5476875" cy="4010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6634E7-72E6-2509-A31E-D5E8062D4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2" y="2495549"/>
            <a:ext cx="58388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44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167E-8A53-5E6D-E1AA-7FD28EC1A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210FE7-1B2D-885B-964C-E02C25F37F5F}"/>
              </a:ext>
            </a:extLst>
          </p:cNvPr>
          <p:cNvSpPr txBox="1"/>
          <p:nvPr/>
        </p:nvSpPr>
        <p:spPr>
          <a:xfrm>
            <a:off x="742950" y="1047751"/>
            <a:ext cx="996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Bivariate Analysis – Studied relationships between price, year, brand, and fuel type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CF849-4E30-6D0B-6C43-C06276717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2209800"/>
            <a:ext cx="78676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2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6F131-8222-F585-FE98-F6291453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1A83B-CB13-1F58-FFCD-640748EEE6EC}"/>
              </a:ext>
            </a:extLst>
          </p:cNvPr>
          <p:cNvSpPr txBox="1"/>
          <p:nvPr/>
        </p:nvSpPr>
        <p:spPr>
          <a:xfrm>
            <a:off x="590548" y="1463873"/>
            <a:ext cx="49244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COREALTION HEATMAP ON YEAR , PRICE , KMS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2C8360-A26B-BC15-FE5A-67CDC38BC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8" y="2356247"/>
            <a:ext cx="5248275" cy="39362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29533D-E345-AF0D-40DF-797E423A8654}"/>
              </a:ext>
            </a:extLst>
          </p:cNvPr>
          <p:cNvSpPr txBox="1"/>
          <p:nvPr/>
        </p:nvSpPr>
        <p:spPr>
          <a:xfrm>
            <a:off x="6543676" y="1479946"/>
            <a:ext cx="4676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CATPLOT ON BRAND AND LOCATION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49E3D8-42A0-C8BE-8C17-533A05F9F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11" y="3015854"/>
            <a:ext cx="5524500" cy="2362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88F8B5-851A-ADD3-F989-34366B120D03}"/>
              </a:ext>
            </a:extLst>
          </p:cNvPr>
          <p:cNvSpPr txBox="1"/>
          <p:nvPr/>
        </p:nvSpPr>
        <p:spPr>
          <a:xfrm>
            <a:off x="504828" y="678954"/>
            <a:ext cx="107537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MULTI VARIATE PLOTS CORREALTION </a:t>
            </a:r>
          </a:p>
          <a:p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96446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5800-7660-F8EB-E2A4-0EF37686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8CBA1F0-3AC8-7750-9ED3-420D29FE3EAA}"/>
              </a:ext>
            </a:extLst>
          </p:cNvPr>
          <p:cNvSpPr txBox="1"/>
          <p:nvPr/>
        </p:nvSpPr>
        <p:spPr>
          <a:xfrm>
            <a:off x="500062" y="959703"/>
            <a:ext cx="107537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MULTI VARIATE PLOTS CORREALTION </a:t>
            </a:r>
          </a:p>
          <a:p>
            <a:br>
              <a:rPr lang="en-US" sz="1800" dirty="0"/>
            </a:b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24DC20-B8B2-F94D-5405-1BAE7E97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2162964"/>
            <a:ext cx="5238750" cy="449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28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B7D0-BA79-4C92-7977-D3CB6D52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4DCFCE4-9A0E-9084-E7D9-247ED5C5664E}"/>
              </a:ext>
            </a:extLst>
          </p:cNvPr>
          <p:cNvSpPr txBox="1"/>
          <p:nvPr/>
        </p:nvSpPr>
        <p:spPr>
          <a:xfrm>
            <a:off x="284688" y="921603"/>
            <a:ext cx="107537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MULTI VARIATE PLOTS CORREALTION </a:t>
            </a:r>
          </a:p>
          <a:p>
            <a:br>
              <a:rPr lang="en-US" sz="1800" dirty="0"/>
            </a:b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19F794-AFCA-8787-04AA-2CCEADDB2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953" y="2180813"/>
            <a:ext cx="6317197" cy="459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90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831850"/>
            <a:ext cx="10868025" cy="70167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KEY BUSINESS INSIGHTS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2505075"/>
            <a:ext cx="11068050" cy="2733675"/>
          </a:xfrm>
        </p:spPr>
        <p:txBody>
          <a:bodyPr>
            <a:normAutofit/>
          </a:bodyPr>
          <a:lstStyle/>
          <a:p>
            <a:r>
              <a:rPr sz="1800" dirty="0"/>
              <a:t>Recent-year cars command higher resale value.</a:t>
            </a:r>
          </a:p>
          <a:p>
            <a:endParaRPr lang="en-IN" sz="1800" dirty="0"/>
          </a:p>
          <a:p>
            <a:r>
              <a:rPr sz="1800" dirty="0"/>
              <a:t>Brand and location heavily impact price variation.</a:t>
            </a:r>
          </a:p>
          <a:p>
            <a:endParaRPr lang="en-IN" sz="1800" dirty="0"/>
          </a:p>
          <a:p>
            <a:r>
              <a:rPr sz="1800" dirty="0"/>
              <a:t>Diesel cars show slightly higher prices compared to petrol models.</a:t>
            </a:r>
          </a:p>
          <a:p>
            <a:endParaRPr lang="en-IN" sz="1800" dirty="0"/>
          </a:p>
          <a:p>
            <a:r>
              <a:rPr sz="1800" dirty="0"/>
              <a:t>High-end brands (BMW, Audi, Mercedes) are clear outliers in price distribution.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6" y="784226"/>
            <a:ext cx="10267950" cy="8445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6" y="2333626"/>
            <a:ext cx="10820399" cy="3152774"/>
          </a:xfrm>
        </p:spPr>
        <p:txBody>
          <a:bodyPr>
            <a:noAutofit/>
          </a:bodyPr>
          <a:lstStyle/>
          <a:p>
            <a:r>
              <a:rPr sz="1800" dirty="0"/>
              <a:t> Web scraping helped gather real-world data on used cars.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 EDA revealed key trends in brand, pricing, and car conditions.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 Data-driven insights can aid in better decision-making for buyers and sellers.</a:t>
            </a:r>
          </a:p>
          <a:p>
            <a:endParaRPr sz="1800" dirty="0"/>
          </a:p>
          <a:p>
            <a:r>
              <a:rPr sz="1800" dirty="0"/>
              <a:t>Overall, this project demonstrates how Python-based data scraping and analysis can uncover actionable insights from unstructured online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955675"/>
            <a:ext cx="10515600" cy="568325"/>
          </a:xfrm>
        </p:spPr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XPERIENCE AND CHALLENGES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2501900"/>
            <a:ext cx="10791825" cy="2841625"/>
          </a:xfrm>
        </p:spPr>
        <p:txBody>
          <a:bodyPr>
            <a:normAutofit/>
          </a:bodyPr>
          <a:lstStyle/>
          <a:p>
            <a:r>
              <a:rPr sz="1800" dirty="0"/>
              <a:t> Handling inconsistent data formats during scraping.</a:t>
            </a:r>
          </a:p>
          <a:p>
            <a:endParaRPr lang="en-IN" sz="1800" dirty="0"/>
          </a:p>
          <a:p>
            <a:r>
              <a:rPr sz="1800" dirty="0"/>
              <a:t> Cleaning and transforming mixed data types.</a:t>
            </a:r>
          </a:p>
          <a:p>
            <a:endParaRPr lang="en-IN" sz="1800" dirty="0"/>
          </a:p>
          <a:p>
            <a:r>
              <a:rPr sz="1800" dirty="0"/>
              <a:t> Managing large HTML data.</a:t>
            </a:r>
          </a:p>
          <a:p>
            <a:endParaRPr lang="en-IN" sz="1800" dirty="0"/>
          </a:p>
          <a:p>
            <a:r>
              <a:rPr sz="1800" dirty="0"/>
              <a:t> Learned advanced data visualization interpretation.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0B9433BF-3144-5C0E-FA0D-12DD46FB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6F99287B-BF63-0065-F0A2-3A5696720C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9241" y="225079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E091F26A-17C8-A89F-272C-C988600C5FC1}"/>
              </a:ext>
            </a:extLst>
          </p:cNvPr>
          <p:cNvSpPr txBox="1"/>
          <p:nvPr/>
        </p:nvSpPr>
        <p:spPr>
          <a:xfrm>
            <a:off x="463550" y="3283236"/>
            <a:ext cx="57658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073068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2939</TotalTime>
  <Words>678</Words>
  <Application>Microsoft Office PowerPoint</Application>
  <PresentationFormat>Widescreen</PresentationFormat>
  <Paragraphs>92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Trebuchet MS</vt:lpstr>
      <vt:lpstr>Libre Baskerville</vt:lpstr>
      <vt:lpstr>Calisto MT</vt:lpstr>
      <vt:lpstr>Calibri</vt:lpstr>
      <vt:lpstr>Arial</vt:lpstr>
      <vt:lpstr>Berlin</vt:lpstr>
      <vt:lpstr>PowerPoint Presentation</vt:lpstr>
      <vt:lpstr>BUSINESS PROBLEM AND USE CASE</vt:lpstr>
      <vt:lpstr>OBJECTIVE OF THE PROJECT</vt:lpstr>
      <vt:lpstr>WEB SCRAPPING DETAILS</vt:lpstr>
      <vt:lpstr>DATA FRAME</vt:lpstr>
      <vt:lpstr>SUMMARY OF DATA</vt:lpstr>
      <vt:lpstr>EXPLORATORY DATA ANALYSIS OVERVIEW</vt:lpstr>
      <vt:lpstr>• Cars with lower kilometers driven  tend to have higher prices.​   • Fuel type (Petrol vs Diesel) shows price variation across brands.​   • Visualization: Scatterplots, Boxplots, and Catplots for Brand vs Location.   • Weak correlation observed between price and year.   • Negative correlation between year and kilometers driven.   • Visualization: Heatmap highlighting relationships among numerical variables.​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BUSINESS INSIGHTS</vt:lpstr>
      <vt:lpstr>CONCLUSION</vt:lpstr>
      <vt:lpstr>EXPERIENCE AND 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ARVIND KOMPELLI</cp:lastModifiedBy>
  <cp:revision>4</cp:revision>
  <dcterms:created xsi:type="dcterms:W3CDTF">2021-02-16T05:19:01Z</dcterms:created>
  <dcterms:modified xsi:type="dcterms:W3CDTF">2025-11-07T16:44:47Z</dcterms:modified>
</cp:coreProperties>
</file>