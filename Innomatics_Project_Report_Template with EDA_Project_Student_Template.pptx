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23"/>
  </p:notesMasterIdLst>
  <p:sldIdLst>
    <p:sldId id="256" r:id="rId2"/>
    <p:sldId id="261" r:id="rId3"/>
    <p:sldId id="262" r:id="rId4"/>
    <p:sldId id="271" r:id="rId5"/>
    <p:sldId id="272" r:id="rId6"/>
    <p:sldId id="264" r:id="rId7"/>
    <p:sldId id="265" r:id="rId8"/>
    <p:sldId id="266" r:id="rId9"/>
    <p:sldId id="273" r:id="rId10"/>
    <p:sldId id="277" r:id="rId11"/>
    <p:sldId id="276" r:id="rId12"/>
    <p:sldId id="274" r:id="rId13"/>
    <p:sldId id="278" r:id="rId14"/>
    <p:sldId id="279" r:id="rId15"/>
    <p:sldId id="275" r:id="rId16"/>
    <p:sldId id="280" r:id="rId17"/>
    <p:sldId id="281" r:id="rId18"/>
    <p:sldId id="268" r:id="rId19"/>
    <p:sldId id="269" r:id="rId20"/>
    <p:sldId id="270" r:id="rId21"/>
    <p:sldId id="263" r:id="rId22"/>
  </p:sldIdLst>
  <p:sldSz cx="12192000" cy="6858000"/>
  <p:notesSz cx="6858000" cy="9144000"/>
  <p:embeddedFontLst>
    <p:embeddedFont>
      <p:font typeface="Calisto MT" panose="02040603050505030304" pitchFamily="18" charset="0"/>
      <p:regular r:id="rId24"/>
      <p:bold r:id="rId25"/>
      <p:italic r:id="rId26"/>
      <p:boldItalic r:id="rId27"/>
    </p:embeddedFont>
    <p:embeddedFont>
      <p:font typeface="Libre Baskerville" panose="02000000000000000000" pitchFamily="2" charset="0"/>
      <p:regular r:id="rId28"/>
      <p:bold r:id="rId29"/>
      <p:italic r:id="rId30"/>
    </p:embeddedFont>
    <p:embeddedFont>
      <p:font typeface="Trebuchet MS" panose="020B0603020202020204" pitchFamily="34" charset="0"/>
      <p:regular r:id="rId31"/>
      <p:bold r:id="rId32"/>
      <p:italic r:id="rId33"/>
      <p:boldItalic r:id="rId34"/>
    </p:embeddedFont>
    <p:embeddedFont>
      <p:font typeface="Wingdings 3" panose="05040102010807070707" pitchFamily="18" charset="2"/>
      <p:regular r:id="rId3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6" roundtripDataSignature="AMtx7mhnFQsu0qTBRZ+C47HNp0tuHCNko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1F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404" autoAdjust="0"/>
  </p:normalViewPr>
  <p:slideViewPr>
    <p:cSldViewPr snapToGrid="0">
      <p:cViewPr varScale="1">
        <p:scale>
          <a:sx n="101" d="100"/>
          <a:sy n="101" d="100"/>
        </p:scale>
        <p:origin x="9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9B054847-B982-5CFE-B3EB-8E7C500F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>
            <a:extLst>
              <a:ext uri="{FF2B5EF4-FFF2-40B4-BE49-F238E27FC236}">
                <a16:creationId xmlns:a16="http://schemas.microsoft.com/office/drawing/2014/main" id="{C6943754-E0E1-6CAB-2895-2D87945DD7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14" name="Google Shape;114;p5:notes">
            <a:extLst>
              <a:ext uri="{FF2B5EF4-FFF2-40B4-BE49-F238E27FC236}">
                <a16:creationId xmlns:a16="http://schemas.microsoft.com/office/drawing/2014/main" id="{CC44D5E2-6F4E-6147-E4D2-9751F51F1B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16405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1086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96135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258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6859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7816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1388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1463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4466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575494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857882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832826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8043867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11284480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2592823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4816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6508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151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8552" y="0"/>
            <a:ext cx="12190815" cy="669409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2472904" y="3681410"/>
            <a:ext cx="7246189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dirty="0">
                <a:solidFill>
                  <a:srgbClr val="E01F26"/>
                </a:solidFill>
                <a:latin typeface="Calisto MT" panose="02040603050505030304" pitchFamily="18" charset="0"/>
                <a:ea typeface="Calibri"/>
                <a:cs typeface="Calibri"/>
                <a:sym typeface="Calibri"/>
              </a:rPr>
              <a:t>CAR TRADE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dirty="0">
                <a:solidFill>
                  <a:srgbClr val="E01F26"/>
                </a:solidFill>
                <a:latin typeface="Calisto MT" panose="02040603050505030304" pitchFamily="18" charset="0"/>
                <a:ea typeface="Calibri"/>
                <a:cs typeface="Calibri"/>
                <a:sym typeface="Calibri"/>
              </a:rPr>
              <a:t>SECOND HANDS CARS ANALYSIS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dirty="0">
                <a:solidFill>
                  <a:srgbClr val="E01F26"/>
                </a:solidFill>
                <a:latin typeface="Calisto MT" panose="02040603050505030304" pitchFamily="18" charset="0"/>
                <a:ea typeface="Calibri"/>
                <a:cs typeface="Calibri"/>
                <a:sym typeface="Calibri"/>
              </a:rPr>
              <a:t> </a:t>
            </a:r>
            <a:r>
              <a:rPr lang="en-IN" sz="1800" b="1" dirty="0">
                <a:solidFill>
                  <a:srgbClr val="E01F26"/>
                </a:solidFill>
                <a:latin typeface="Calisto MT" panose="02040603050505030304" pitchFamily="18" charset="0"/>
                <a:ea typeface="Calibri"/>
                <a:cs typeface="Calibri"/>
                <a:sym typeface="Calibri"/>
              </a:rPr>
              <a:t>BY</a:t>
            </a:r>
            <a:r>
              <a:rPr lang="en-IN" sz="2400" b="1" dirty="0">
                <a:solidFill>
                  <a:srgbClr val="E01F26"/>
                </a:solidFill>
                <a:latin typeface="Calisto MT" panose="02040603050505030304" pitchFamily="18" charset="0"/>
                <a:ea typeface="Calibri"/>
                <a:cs typeface="Calibri"/>
                <a:sym typeface="Calibri"/>
              </a:rPr>
              <a:t> 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400" b="1" dirty="0">
                <a:solidFill>
                  <a:srgbClr val="E01F26"/>
                </a:solidFill>
                <a:latin typeface="Calisto MT" panose="02040603050505030304" pitchFamily="18" charset="0"/>
                <a:ea typeface="Calibri"/>
                <a:cs typeface="Calibri"/>
                <a:sym typeface="Calibri"/>
              </a:rPr>
              <a:t>ARVIND KOMPELLI 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E01F26"/>
              </a:solidFill>
              <a:latin typeface="Calisto MT" panose="0204060305050503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825" y="328613"/>
            <a:ext cx="10515600" cy="928688"/>
          </a:xfrm>
        </p:spPr>
        <p:txBody>
          <a:bodyPr>
            <a:normAutofit/>
          </a:bodyPr>
          <a:lstStyle/>
          <a:p>
            <a:r>
              <a:rPr lang="en-IN" sz="2800" dirty="0">
                <a:latin typeface="+mj-lt"/>
              </a:rPr>
              <a:t>BUSINESS PROBLEM AND USE CASE</a:t>
            </a:r>
            <a:endParaRPr sz="28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825" y="1403350"/>
            <a:ext cx="10248900" cy="4051300"/>
          </a:xfrm>
        </p:spPr>
        <p:txBody>
          <a:bodyPr>
            <a:noAutofit/>
          </a:bodyPr>
          <a:lstStyle/>
          <a:p>
            <a:r>
              <a:rPr sz="1800" dirty="0"/>
              <a:t>The used car market is growing rapidly, with buyers and sellers seeking fair pricing and transparency.</a:t>
            </a:r>
          </a:p>
          <a:p>
            <a:endParaRPr sz="1800" dirty="0"/>
          </a:p>
          <a:p>
            <a:r>
              <a:rPr sz="1800" dirty="0"/>
              <a:t>Business Problem:</a:t>
            </a:r>
          </a:p>
          <a:p>
            <a:pPr marL="114300" indent="0">
              <a:buNone/>
            </a:pPr>
            <a:r>
              <a:rPr lang="en-US" sz="1800" dirty="0"/>
              <a:t>           </a:t>
            </a:r>
            <a:r>
              <a:rPr sz="1800" dirty="0"/>
              <a:t>Understand how car features (brand, year, fuel type, mileage) influence resale prices.</a:t>
            </a:r>
          </a:p>
          <a:p>
            <a:pPr marL="114300" indent="0">
              <a:buNone/>
            </a:pPr>
            <a:r>
              <a:rPr lang="en-US" sz="1800" dirty="0"/>
              <a:t>           </a:t>
            </a:r>
            <a:r>
              <a:rPr sz="1800" dirty="0"/>
              <a:t>Identify pricing trends and market insights from online car listings.</a:t>
            </a:r>
          </a:p>
          <a:p>
            <a:endParaRPr sz="1800" dirty="0"/>
          </a:p>
          <a:p>
            <a:r>
              <a:rPr sz="1800" dirty="0"/>
              <a:t>Use Case:</a:t>
            </a:r>
          </a:p>
          <a:p>
            <a:pPr marL="114300" indent="0">
              <a:buNone/>
            </a:pPr>
            <a:r>
              <a:rPr lang="en-US" sz="1800" dirty="0"/>
              <a:t>            </a:t>
            </a:r>
            <a:r>
              <a:rPr sz="1800" dirty="0"/>
              <a:t>Helping buyers make data-driven decisions.</a:t>
            </a:r>
          </a:p>
          <a:p>
            <a:pPr marL="114300" indent="0">
              <a:buNone/>
            </a:pPr>
            <a:r>
              <a:rPr lang="en-US" sz="1800" dirty="0"/>
              <a:t>            </a:t>
            </a:r>
            <a:r>
              <a:rPr sz="1800" dirty="0"/>
              <a:t>Assisting sellers to set competitive prices.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025" y="563562"/>
            <a:ext cx="10515600" cy="711200"/>
          </a:xfrm>
        </p:spPr>
        <p:txBody>
          <a:bodyPr>
            <a:normAutofit/>
          </a:bodyPr>
          <a:lstStyle/>
          <a:p>
            <a:r>
              <a:rPr lang="en-IN" sz="2800" dirty="0">
                <a:latin typeface="+mj-lt"/>
              </a:rPr>
              <a:t>OBJECTIVE OF THE PROJECT</a:t>
            </a:r>
            <a:endParaRPr sz="2800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025" y="1427162"/>
            <a:ext cx="10515600" cy="1756569"/>
          </a:xfrm>
        </p:spPr>
        <p:txBody>
          <a:bodyPr>
            <a:normAutofit/>
          </a:bodyPr>
          <a:lstStyle/>
          <a:p>
            <a:r>
              <a:rPr sz="1800" dirty="0"/>
              <a:t>To scrape used car data from online sources, clean and analyze it using EDA techniques, and uncover insights into pricing patterns, popular brands, and factors influencing car prices.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2D70B-1773-4C8C-A586-11E3DC534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826EB44-396B-E4D9-E909-BC7C5A252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081" y="325374"/>
            <a:ext cx="5145494" cy="5780151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BAE290E-337C-F24B-9B71-A0F20B45FE22}"/>
              </a:ext>
            </a:extLst>
          </p:cNvPr>
          <p:cNvSpPr txBox="1">
            <a:spLocks/>
          </p:cNvSpPr>
          <p:nvPr/>
        </p:nvSpPr>
        <p:spPr>
          <a:xfrm>
            <a:off x="455750" y="1790700"/>
            <a:ext cx="5819775" cy="3495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Data Source: Car trade website.</a:t>
            </a:r>
          </a:p>
          <a:p>
            <a:endParaRPr lang="en-US" dirty="0"/>
          </a:p>
          <a:p>
            <a:r>
              <a:rPr lang="en-US" dirty="0"/>
              <a:t>Python libraries :  Beautiful Soup, Requests, Pandas ,</a:t>
            </a:r>
            <a:r>
              <a:rPr lang="en-US" dirty="0" err="1"/>
              <a:t>numpy</a:t>
            </a:r>
            <a:r>
              <a:rPr lang="en-US" dirty="0"/>
              <a:t> ,</a:t>
            </a:r>
            <a:r>
              <a:rPr lang="en-US" dirty="0" err="1"/>
              <a:t>matplot</a:t>
            </a:r>
            <a:r>
              <a:rPr lang="en-US" dirty="0"/>
              <a:t>, seaborn.</a:t>
            </a:r>
          </a:p>
          <a:p>
            <a:endParaRPr lang="en-US" dirty="0"/>
          </a:p>
          <a:p>
            <a:r>
              <a:rPr lang="en-US" dirty="0"/>
              <a:t>Process : Extracted car details (brand, year, model, price, kms driven, fuel type, and location).</a:t>
            </a:r>
          </a:p>
          <a:p>
            <a:endParaRPr lang="en-US" dirty="0"/>
          </a:p>
          <a:p>
            <a:r>
              <a:rPr lang="en-US" dirty="0"/>
              <a:t>Cleaned and making into structured the scraped data into a Pandas </a:t>
            </a:r>
            <a:r>
              <a:rPr lang="en-US" dirty="0" err="1"/>
              <a:t>DataFrame</a:t>
            </a:r>
            <a:r>
              <a:rPr lang="en-US" dirty="0"/>
              <a:t> for analysis.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C8A8058-6118-B6FA-79F6-25B26673B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76251"/>
            <a:ext cx="5257800" cy="666750"/>
          </a:xfrm>
        </p:spPr>
        <p:txBody>
          <a:bodyPr>
            <a:normAutofit/>
          </a:bodyPr>
          <a:lstStyle/>
          <a:p>
            <a:r>
              <a:rPr lang="en-IN" sz="2800" dirty="0">
                <a:latin typeface="+mj-lt"/>
              </a:rPr>
              <a:t>WEB SCRAPPING DETAILS</a:t>
            </a:r>
            <a:endParaRPr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58452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88830-9433-14E2-7F64-BD9A0450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81684-1DAA-A474-8073-E0751D21B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924" y="285750"/>
            <a:ext cx="5343525" cy="538163"/>
          </a:xfrm>
        </p:spPr>
        <p:txBody>
          <a:bodyPr>
            <a:normAutofit fontScale="90000"/>
          </a:bodyPr>
          <a:lstStyle/>
          <a:p>
            <a:r>
              <a:rPr lang="en-US" dirty="0"/>
              <a:t>DATA FRAME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5027F4-B6EB-4941-62A9-461606FA4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4" y="1181201"/>
            <a:ext cx="10506075" cy="4767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868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0075" y="393701"/>
            <a:ext cx="10515600" cy="539750"/>
          </a:xfrm>
        </p:spPr>
        <p:txBody>
          <a:bodyPr>
            <a:normAutofit/>
          </a:bodyPr>
          <a:lstStyle/>
          <a:p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SUMMARY OF DATA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71537" y="1425575"/>
            <a:ext cx="10448925" cy="3870325"/>
          </a:xfrm>
        </p:spPr>
        <p:txBody>
          <a:bodyPr>
            <a:noAutofit/>
          </a:bodyPr>
          <a:lstStyle/>
          <a:p>
            <a:r>
              <a:rPr sz="1800" dirty="0"/>
              <a:t>Total Records: 488 cars</a:t>
            </a:r>
          </a:p>
          <a:p>
            <a:endParaRPr lang="en-US" sz="1800" dirty="0"/>
          </a:p>
          <a:p>
            <a:r>
              <a:rPr sz="1800" dirty="0"/>
              <a:t>Columns: Year, Brand Name, Specification, Price, KMS Info, Type, Location</a:t>
            </a:r>
          </a:p>
          <a:p>
            <a:endParaRPr sz="1800" dirty="0"/>
          </a:p>
          <a:p>
            <a:r>
              <a:rPr sz="1800" dirty="0"/>
              <a:t>Sample Insights:</a:t>
            </a:r>
          </a:p>
          <a:p>
            <a:endParaRPr lang="en-US" sz="1800" dirty="0"/>
          </a:p>
          <a:p>
            <a:r>
              <a:rPr sz="1800" dirty="0"/>
              <a:t>Data contains both luxury and economy brands.</a:t>
            </a:r>
          </a:p>
          <a:p>
            <a:endParaRPr lang="en-US" sz="1800" dirty="0"/>
          </a:p>
          <a:p>
            <a:r>
              <a:rPr sz="1800" dirty="0"/>
              <a:t>Prices vary .</a:t>
            </a:r>
          </a:p>
          <a:p>
            <a:endParaRPr lang="en-US" sz="1800" dirty="0"/>
          </a:p>
          <a:p>
            <a:r>
              <a:rPr sz="1800" dirty="0"/>
              <a:t>Locations include multiple areas in Hyderabad.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8625" y="222251"/>
            <a:ext cx="10515600" cy="787400"/>
          </a:xfrm>
        </p:spPr>
        <p:txBody>
          <a:bodyPr>
            <a:normAutofit/>
          </a:bodyPr>
          <a:lstStyle/>
          <a:p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EXPLORATORY DATA ANALYSIS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" y="1095376"/>
            <a:ext cx="11353800" cy="5343524"/>
          </a:xfrm>
        </p:spPr>
        <p:txBody>
          <a:bodyPr>
            <a:noAutofit/>
          </a:bodyPr>
          <a:lstStyle/>
          <a:p>
            <a:r>
              <a:rPr sz="1800" dirty="0"/>
              <a:t>Steps Followed</a:t>
            </a:r>
            <a:r>
              <a:rPr lang="en-IN" sz="1800" dirty="0"/>
              <a:t>:</a:t>
            </a:r>
            <a:endParaRPr lang="en-US" sz="1800" dirty="0"/>
          </a:p>
          <a:p>
            <a:pPr marL="114300" indent="0">
              <a:buNone/>
            </a:pPr>
            <a:r>
              <a:rPr lang="en-IN" sz="1800" dirty="0"/>
              <a:t>       </a:t>
            </a:r>
            <a:r>
              <a:rPr lang="en-US" sz="1800" dirty="0"/>
              <a:t> 1. Data Cleaning – Handled null values and corrected data types.</a:t>
            </a:r>
          </a:p>
          <a:p>
            <a:pPr marL="114300" indent="0">
              <a:buNone/>
            </a:pPr>
            <a:r>
              <a:rPr lang="en-IN" sz="1800" dirty="0"/>
              <a:t>        </a:t>
            </a:r>
            <a:r>
              <a:rPr sz="1800" dirty="0"/>
              <a:t>2. Data Manipulation – Standardized columns and formatted prices.</a:t>
            </a:r>
            <a:endParaRPr lang="en-IN" sz="1800" dirty="0"/>
          </a:p>
          <a:p>
            <a:pPr marL="114300" indent="0">
              <a:buNone/>
            </a:pPr>
            <a:endParaRPr lang="en-US" sz="1800" dirty="0"/>
          </a:p>
          <a:p>
            <a:pPr marL="114300" indent="0">
              <a:buNone/>
            </a:pPr>
            <a:r>
              <a:rPr lang="en-US" sz="1800" dirty="0"/>
              <a:t>• Histogram shows most car prices.</a:t>
            </a:r>
          </a:p>
          <a:p>
            <a:pPr marL="114300" indent="0">
              <a:buNone/>
            </a:pPr>
            <a:br>
              <a:rPr lang="en-US" sz="1800" dirty="0"/>
            </a:br>
            <a:r>
              <a:rPr lang="en-US" sz="1800" dirty="0"/>
              <a:t>• Boxplot identifies multiple high-priced outliers (luxury cars).</a:t>
            </a:r>
          </a:p>
          <a:p>
            <a:pPr marL="114300" indent="0" fontAlgn="base">
              <a:buNone/>
            </a:pPr>
            <a:br>
              <a:rPr lang="en-US" sz="1800" dirty="0"/>
            </a:br>
            <a:r>
              <a:rPr lang="en-US" sz="1800" dirty="0"/>
              <a:t>• Hyundai, Mahindra, and Maruti are the most listed brands.</a:t>
            </a:r>
            <a:br>
              <a:rPr lang="en-US" sz="1800" dirty="0"/>
            </a:br>
            <a:br>
              <a:rPr lang="en-US" sz="1800" dirty="0"/>
            </a:br>
            <a:endParaRPr lang="en-US" sz="1800" dirty="0"/>
          </a:p>
          <a:p>
            <a:pPr marL="114300" indent="0" fontAlgn="base">
              <a:buNone/>
            </a:pPr>
            <a:r>
              <a:rPr lang="en-US" sz="1800" dirty="0"/>
              <a:t>• Positive correlation between manufacturing year and price.​</a:t>
            </a:r>
            <a:br>
              <a:rPr lang="en-US" sz="1800" dirty="0"/>
            </a:br>
            <a:br>
              <a:rPr lang="en-US" sz="1800" dirty="0"/>
            </a:br>
            <a:endParaRPr lang="en-US" sz="1800" dirty="0"/>
          </a:p>
          <a:p>
            <a:pPr marL="114300" indent="0" fontAlgn="base">
              <a:buNone/>
            </a:pPr>
            <a:r>
              <a:rPr lang="en-US" sz="1800" dirty="0"/>
              <a:t>• Cars with lower kilometers driven  tend to have higher prices.​​</a:t>
            </a:r>
            <a:br>
              <a:rPr lang="en-US" sz="1800" dirty="0"/>
            </a:br>
            <a:endParaRPr sz="1800" dirty="0"/>
          </a:p>
          <a:p>
            <a:endParaRPr lang="en-IN" sz="1800" dirty="0"/>
          </a:p>
          <a:p>
            <a:pPr marL="114300" indent="0">
              <a:buNone/>
            </a:pPr>
            <a:endParaRPr lang="en-IN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304801"/>
            <a:ext cx="10367962" cy="5429250"/>
          </a:xfrm>
        </p:spPr>
        <p:txBody>
          <a:bodyPr>
            <a:normAutofit/>
          </a:bodyPr>
          <a:lstStyle/>
          <a:p>
            <a:r>
              <a:rPr lang="en-US" sz="1800" dirty="0"/>
              <a:t>• Cars with lower kilometers driven  tend to have higher prices.​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• Fuel type (Petrol vs Diesel) shows price variation across brands.​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• Visualization: Scatterplots, Boxplots, and </a:t>
            </a:r>
            <a:r>
              <a:rPr lang="en-US" sz="1800" dirty="0" err="1"/>
              <a:t>Catplots</a:t>
            </a:r>
            <a:r>
              <a:rPr lang="en-US" sz="1800" dirty="0"/>
              <a:t> for Brand vs Location.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• Weak correlation observed between price and year.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• Negative correlation between year and kilometers driven.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• Visualization: Heatmap highlighting relationships among numerical variables.​</a:t>
            </a:r>
            <a:br>
              <a:rPr lang="en-US" sz="1800" dirty="0"/>
            </a:b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09E5-DBE6-98F3-E51F-07AFF20EF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9FC258C1-1C0D-DD5B-5C02-F19515949B07}"/>
              </a:ext>
            </a:extLst>
          </p:cNvPr>
          <p:cNvSpPr txBox="1"/>
          <p:nvPr/>
        </p:nvSpPr>
        <p:spPr>
          <a:xfrm>
            <a:off x="715140" y="288817"/>
            <a:ext cx="10762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Univariate Analysis – Distribution and outlier detection for car prices.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F29C8C3-5203-E4BB-0CEC-6A8B8C9DC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81" y="1752600"/>
            <a:ext cx="5421544" cy="355044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A160A0C-E3B7-AFD4-381C-7B7C6644F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0" y="1752599"/>
            <a:ext cx="6061216" cy="3550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483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EA084-30E0-08C9-AF5B-12E8F9702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FF7A509-4525-576F-263A-3E07378B0535}"/>
              </a:ext>
            </a:extLst>
          </p:cNvPr>
          <p:cNvSpPr txBox="1"/>
          <p:nvPr/>
        </p:nvSpPr>
        <p:spPr>
          <a:xfrm>
            <a:off x="715140" y="288817"/>
            <a:ext cx="10762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Univariate Analysis – Distribution and outlier detection for car prices.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73CCCD-5167-06D6-86B9-359BD2F354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6" y="1466850"/>
            <a:ext cx="5353050" cy="3924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0FA7E71-2DC0-C53A-465D-17991277E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526" y="1457325"/>
            <a:ext cx="5467350" cy="393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59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5AEED-0400-F1CD-3EAF-53B83E80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C73216A-B5B5-95C4-4C5C-45B9AEAE1369}"/>
              </a:ext>
            </a:extLst>
          </p:cNvPr>
          <p:cNvSpPr txBox="1"/>
          <p:nvPr/>
        </p:nvSpPr>
        <p:spPr>
          <a:xfrm>
            <a:off x="715140" y="288817"/>
            <a:ext cx="10762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Univariate Analysis – Distribution and outlier detection for car prices.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5E548-5B5B-37AC-9A5B-E4975830C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31" y="870015"/>
            <a:ext cx="10548937" cy="511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387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347DD-8581-C60E-86B4-C2892C36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B0C77B8-D93E-E5F4-55B6-53E70AF57095}"/>
              </a:ext>
            </a:extLst>
          </p:cNvPr>
          <p:cNvSpPr txBox="1"/>
          <p:nvPr/>
        </p:nvSpPr>
        <p:spPr>
          <a:xfrm>
            <a:off x="1057275" y="352426"/>
            <a:ext cx="9963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Bivariate Analysis – Studied relationships between price, year, brand, and fuel type</a:t>
            </a:r>
            <a:endParaRPr lang="en-IN" sz="1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742299-1F69-FB87-3EF0-5FC4D5C0C5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21656"/>
            <a:ext cx="6112309" cy="32146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68DBB9-7D5F-5E94-BA6C-D3C3201B7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434" y="1821656"/>
            <a:ext cx="4870966" cy="3214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824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D57A5-F354-2E47-F7D1-6683FE62D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A4866C7-1292-1A97-B954-4B0434AD8811}"/>
              </a:ext>
            </a:extLst>
          </p:cNvPr>
          <p:cNvSpPr txBox="1"/>
          <p:nvPr/>
        </p:nvSpPr>
        <p:spPr>
          <a:xfrm>
            <a:off x="1057275" y="352426"/>
            <a:ext cx="9963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Bivariate Analysis – Studied relationships between price, year, brand, and fuel type</a:t>
            </a:r>
            <a:endParaRPr lang="en-IN"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912898-F160-0108-1C15-E41D6BEE6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75" y="1423987"/>
            <a:ext cx="5476875" cy="40100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6634E7-72E6-2509-A31E-D5E8062D4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152" y="1423987"/>
            <a:ext cx="5838825" cy="3981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344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6167E-8A53-5E6D-E1AA-7FD28EC1A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210FE7-1B2D-885B-964C-E02C25F37F5F}"/>
              </a:ext>
            </a:extLst>
          </p:cNvPr>
          <p:cNvSpPr txBox="1"/>
          <p:nvPr/>
        </p:nvSpPr>
        <p:spPr>
          <a:xfrm>
            <a:off x="1057275" y="352426"/>
            <a:ext cx="9963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Bivariate Analysis – Studied relationships between price, year, brand, and fuel type</a:t>
            </a:r>
            <a:endParaRPr lang="en-IN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3CF849-4E30-6D0B-6C43-C06276717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175" y="1209675"/>
            <a:ext cx="7867650" cy="443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42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6F131-8222-F585-FE98-F62914533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E21A83B-CB13-1F58-FFCD-640748EEE6EC}"/>
              </a:ext>
            </a:extLst>
          </p:cNvPr>
          <p:cNvSpPr txBox="1"/>
          <p:nvPr/>
        </p:nvSpPr>
        <p:spPr>
          <a:xfrm>
            <a:off x="590548" y="1463873"/>
            <a:ext cx="49244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COREALTION HEATMAP ON YEAR , PRICE , KMS</a:t>
            </a: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2C8360-A26B-BC15-FE5A-67CDC38BC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" y="2165747"/>
            <a:ext cx="5248275" cy="39362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29533D-E345-AF0D-40DF-797E423A8654}"/>
              </a:ext>
            </a:extLst>
          </p:cNvPr>
          <p:cNvSpPr txBox="1"/>
          <p:nvPr/>
        </p:nvSpPr>
        <p:spPr>
          <a:xfrm>
            <a:off x="6924676" y="1463873"/>
            <a:ext cx="46767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CATPLOT ON BRAND AND LOCATION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49E3D8-42A0-C8BE-8C17-533A05F9F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5036" y="2952750"/>
            <a:ext cx="5524500" cy="2362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B88F8B5-851A-ADD3-F989-34366B120D03}"/>
              </a:ext>
            </a:extLst>
          </p:cNvPr>
          <p:cNvSpPr txBox="1"/>
          <p:nvPr/>
        </p:nvSpPr>
        <p:spPr>
          <a:xfrm>
            <a:off x="666749" y="350103"/>
            <a:ext cx="1075372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MULTI VARIATE PLOTS CORREALTION </a:t>
            </a:r>
          </a:p>
          <a:p>
            <a:br>
              <a:rPr lang="en-US" sz="1800" dirty="0"/>
            </a:b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38964463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25800-7660-F8EB-E2A4-0EF376862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8CBA1F0-3AC8-7750-9ED3-420D29FE3EAA}"/>
              </a:ext>
            </a:extLst>
          </p:cNvPr>
          <p:cNvSpPr txBox="1"/>
          <p:nvPr/>
        </p:nvSpPr>
        <p:spPr>
          <a:xfrm>
            <a:off x="666749" y="350103"/>
            <a:ext cx="1075372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MULTI VARIATE PLOTS CORREALTION </a:t>
            </a:r>
          </a:p>
          <a:p>
            <a:br>
              <a:rPr lang="en-US" sz="1800" dirty="0"/>
            </a:br>
            <a:endParaRPr lang="en-IN"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24DC20-B8B2-F94D-5405-1BAE7E976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7061" y="959376"/>
            <a:ext cx="5753100" cy="493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828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2B7D0-BA79-4C92-7977-D3CB6D529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4DCFCE4-9A0E-9084-E7D9-247ED5C5664E}"/>
              </a:ext>
            </a:extLst>
          </p:cNvPr>
          <p:cNvSpPr txBox="1"/>
          <p:nvPr/>
        </p:nvSpPr>
        <p:spPr>
          <a:xfrm>
            <a:off x="666749" y="350103"/>
            <a:ext cx="1075372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MULTI VARIATE PLOTS CORREALTION </a:t>
            </a:r>
          </a:p>
          <a:p>
            <a:br>
              <a:rPr lang="en-US" sz="1800" dirty="0"/>
            </a:br>
            <a:endParaRPr lang="en-IN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19F794-AFCA-8787-04AA-2CCEADDB2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8653" y="1116568"/>
            <a:ext cx="7309915" cy="5312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7901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775" y="365125"/>
            <a:ext cx="10868025" cy="701675"/>
          </a:xfrm>
        </p:spPr>
        <p:txBody>
          <a:bodyPr>
            <a:normAutofit/>
          </a:bodyPr>
          <a:lstStyle/>
          <a:p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KEY BUSINESS INSIGHTS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750" y="1428750"/>
            <a:ext cx="11068050" cy="2733675"/>
          </a:xfrm>
        </p:spPr>
        <p:txBody>
          <a:bodyPr>
            <a:normAutofit lnSpcReduction="10000"/>
          </a:bodyPr>
          <a:lstStyle/>
          <a:p>
            <a:r>
              <a:rPr sz="1800" dirty="0"/>
              <a:t>Recent-year cars command higher resale value.</a:t>
            </a:r>
          </a:p>
          <a:p>
            <a:endParaRPr lang="en-IN" sz="1800" dirty="0"/>
          </a:p>
          <a:p>
            <a:r>
              <a:rPr sz="1800" dirty="0"/>
              <a:t>Brand and location heavily impact price variation.</a:t>
            </a:r>
          </a:p>
          <a:p>
            <a:endParaRPr lang="en-IN" sz="1800" dirty="0"/>
          </a:p>
          <a:p>
            <a:r>
              <a:rPr sz="1800" dirty="0"/>
              <a:t>Diesel cars show slightly higher prices compared to petrol models.</a:t>
            </a:r>
          </a:p>
          <a:p>
            <a:endParaRPr lang="en-IN" sz="1800" dirty="0"/>
          </a:p>
          <a:p>
            <a:r>
              <a:rPr sz="1800" dirty="0"/>
              <a:t>High-end brands (BMW, Audi, Mercedes) are clear outliers in price distribution.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241301"/>
            <a:ext cx="10267950" cy="844550"/>
          </a:xfrm>
        </p:spPr>
        <p:txBody>
          <a:bodyPr>
            <a:normAutofit/>
          </a:bodyPr>
          <a:lstStyle/>
          <a:p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351" y="1238251"/>
            <a:ext cx="10820399" cy="3152774"/>
          </a:xfrm>
        </p:spPr>
        <p:txBody>
          <a:bodyPr>
            <a:noAutofit/>
          </a:bodyPr>
          <a:lstStyle/>
          <a:p>
            <a:r>
              <a:rPr sz="1800" dirty="0"/>
              <a:t> Web scraping helped gather real-world data on used cars.</a:t>
            </a:r>
            <a:endParaRPr lang="en-IN" sz="1800" dirty="0"/>
          </a:p>
          <a:p>
            <a:endParaRPr sz="1800" dirty="0"/>
          </a:p>
          <a:p>
            <a:r>
              <a:rPr sz="1800" dirty="0"/>
              <a:t> EDA revealed key trends in brand, pricing, and car conditions.</a:t>
            </a:r>
            <a:endParaRPr lang="en-IN" sz="1800" dirty="0"/>
          </a:p>
          <a:p>
            <a:endParaRPr sz="1800" dirty="0"/>
          </a:p>
          <a:p>
            <a:r>
              <a:rPr sz="1800" dirty="0"/>
              <a:t> Data-driven insights can aid in better decision-making for buyers and sellers.</a:t>
            </a:r>
          </a:p>
          <a:p>
            <a:endParaRPr sz="1800" dirty="0"/>
          </a:p>
          <a:p>
            <a:r>
              <a:rPr sz="1800" dirty="0"/>
              <a:t>Overall, this project demonstrates how Python-based data scraping and analysis can uncover actionable insights from unstructured online data.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1975" y="355600"/>
            <a:ext cx="10515600" cy="568325"/>
          </a:xfrm>
        </p:spPr>
        <p:txBody>
          <a:bodyPr>
            <a:normAutofit/>
          </a:bodyPr>
          <a:lstStyle/>
          <a:p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n-IN" sz="2800" dirty="0">
                <a:latin typeface="Arial" panose="020B0604020202020204" pitchFamily="34" charset="0"/>
                <a:cs typeface="Arial" panose="020B0604020202020204" pitchFamily="34" charset="0"/>
              </a:rPr>
              <a:t>XPERIENCE AND CHALLENGES</a:t>
            </a:r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1975" y="1377950"/>
            <a:ext cx="10791825" cy="2841625"/>
          </a:xfrm>
        </p:spPr>
        <p:txBody>
          <a:bodyPr>
            <a:normAutofit/>
          </a:bodyPr>
          <a:lstStyle/>
          <a:p>
            <a:r>
              <a:rPr sz="1800" dirty="0"/>
              <a:t> Handling inconsistent data formats during scraping.</a:t>
            </a:r>
          </a:p>
          <a:p>
            <a:endParaRPr lang="en-IN" sz="1800" dirty="0"/>
          </a:p>
          <a:p>
            <a:r>
              <a:rPr sz="1800" dirty="0"/>
              <a:t> Cleaning and transforming mixed data types.</a:t>
            </a:r>
          </a:p>
          <a:p>
            <a:endParaRPr lang="en-IN" sz="1800" dirty="0"/>
          </a:p>
          <a:p>
            <a:r>
              <a:rPr sz="1800" dirty="0"/>
              <a:t> Managing large HTML data.</a:t>
            </a:r>
          </a:p>
          <a:p>
            <a:endParaRPr lang="en-IN" sz="1800" dirty="0"/>
          </a:p>
          <a:p>
            <a:r>
              <a:rPr sz="1800" dirty="0"/>
              <a:t> Learned advanced data visualization interpretation.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0B9433BF-3144-5C0E-FA0D-12DD46FB6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5">
            <a:extLst>
              <a:ext uri="{FF2B5EF4-FFF2-40B4-BE49-F238E27FC236}">
                <a16:creationId xmlns:a16="http://schemas.microsoft.com/office/drawing/2014/main" id="{6F99287B-BF63-0065-F0A2-3A5696720CC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66516" y="1850749"/>
            <a:ext cx="4465643" cy="28343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5">
            <a:extLst>
              <a:ext uri="{FF2B5EF4-FFF2-40B4-BE49-F238E27FC236}">
                <a16:creationId xmlns:a16="http://schemas.microsoft.com/office/drawing/2014/main" id="{E091F26A-17C8-A89F-272C-C988600C5FC1}"/>
              </a:ext>
            </a:extLst>
          </p:cNvPr>
          <p:cNvSpPr txBox="1"/>
          <p:nvPr/>
        </p:nvSpPr>
        <p:spPr>
          <a:xfrm>
            <a:off x="1244600" y="2997200"/>
            <a:ext cx="3661836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Libre Baskerville"/>
              <a:buNone/>
            </a:pPr>
            <a:r>
              <a:rPr lang="en-IN" sz="4400" b="0" i="0" u="none" strike="noStrike" cap="none">
                <a:solidFill>
                  <a:srgbClr val="C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THANK YOU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073068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2879</TotalTime>
  <Words>659</Words>
  <Application>Microsoft Office PowerPoint</Application>
  <PresentationFormat>Widescreen</PresentationFormat>
  <Paragraphs>87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Trebuchet MS</vt:lpstr>
      <vt:lpstr>Calibri</vt:lpstr>
      <vt:lpstr>Calisto MT</vt:lpstr>
      <vt:lpstr>Wingdings 3</vt:lpstr>
      <vt:lpstr>Libre Baskerville</vt:lpstr>
      <vt:lpstr>Facet</vt:lpstr>
      <vt:lpstr>PowerPoint Presentation</vt:lpstr>
      <vt:lpstr>BUSINESS PROBLEM AND USE CASE</vt:lpstr>
      <vt:lpstr>OBJECTIVE OF THE PROJECT</vt:lpstr>
      <vt:lpstr>WEB SCRAPPING DETAILS</vt:lpstr>
      <vt:lpstr>DATA FRAME</vt:lpstr>
      <vt:lpstr>SUMMARY OF DATA</vt:lpstr>
      <vt:lpstr>EXPLORATORY DATA ANALYSIS OVERVIEW</vt:lpstr>
      <vt:lpstr>• Cars with lower kilometers driven  tend to have higher prices.​   • Fuel type (Petrol vs Diesel) shows price variation across brands.​   • Visualization: Scatterplots, Boxplots, and Catplots for Brand vs Location.   • Weak correlation observed between price and year.   • Negative correlation between year and kilometers driven.   • Visualization: Heatmap highlighting relationships among numerical variables.​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BUSINESS INSIGHTS</vt:lpstr>
      <vt:lpstr>CONCLUSION</vt:lpstr>
      <vt:lpstr>EXPERIENCE AND CHALLENGES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Raghu Ram Aduri</dc:creator>
  <cp:lastModifiedBy>ARVIND KOMPELLI</cp:lastModifiedBy>
  <cp:revision>2</cp:revision>
  <dcterms:created xsi:type="dcterms:W3CDTF">2021-02-16T05:19:01Z</dcterms:created>
  <dcterms:modified xsi:type="dcterms:W3CDTF">2025-11-03T06:15:58Z</dcterms:modified>
</cp:coreProperties>
</file>